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E1712F-D906-452D-A311-CE738F6FE6D2}">
  <a:tblStyle styleId="{1EE1712F-D906-452D-A311-CE738F6FE6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4888408"/>
            <a:ext cx="11144250" cy="103614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23875" y="619125"/>
            <a:ext cx="11144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ХАРКІВСЬКИЙ НАЦІОНАЛЬНИЙ УНІВЕРСИТЕТ РАДІОЕЛЕКТРОНІКИ • КАФЕДРА ПІ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23875" y="895350"/>
            <a:ext cx="11144250" cy="190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23875" y="6238875"/>
            <a:ext cx="733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2026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23875" y="2101304"/>
            <a:ext cx="11668125" cy="121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4984"/>
              </a:lnSpc>
            </a:pPr>
            <a:r>
              <a:rPr lang="ru-RU" sz="3150" b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Вебсервіс</a:t>
            </a:r>
            <a:r>
              <a:rPr lang="ru-RU" sz="315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для </a:t>
            </a:r>
            <a:r>
              <a:rPr lang="ru-RU" sz="3150" b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ідентифікації</a:t>
            </a:r>
            <a:r>
              <a:rPr lang="ru-RU" sz="315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3150" b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еквівалентних</a:t>
            </a:r>
            <a:r>
              <a:rPr lang="ru-RU" sz="315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3150" b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медичних</a:t>
            </a:r>
            <a:r>
              <a:rPr lang="ru-RU" sz="315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3150" b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препаратів</a:t>
            </a:r>
            <a:r>
              <a:rPr lang="ru-RU" sz="315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на </a:t>
            </a:r>
            <a:r>
              <a:rPr lang="ru-RU" sz="3150" b="1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міжнародному</a:t>
            </a:r>
            <a:r>
              <a:rPr lang="ru-RU" sz="315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ринку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23875" y="3272879"/>
            <a:ext cx="11144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Кваліфікаційна робота бакалавра зі спеціальності 121 — Інженерія програмного забезпечення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23875" y="5136058"/>
            <a:ext cx="5870823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Викона</a:t>
            </a:r>
            <a:r>
              <a:rPr lang="ru-RU" sz="1050" b="1" i="0" u="none" strike="noStrike" cap="none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в</a:t>
            </a:r>
            <a:r>
              <a:rPr lang="en-US" sz="1050" b="1" i="0" u="none" strike="noStrike" cap="none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523875" y="5398889"/>
            <a:ext cx="5870823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здобувач</a:t>
            </a:r>
            <a:r>
              <a:rPr lang="en-US" sz="1050" b="0" i="0" u="none" strike="noStrike" cap="none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вищої</a:t>
            </a:r>
            <a:r>
              <a:rPr lang="en-US" sz="1050" b="0" i="0" u="none" strike="noStrike" cap="none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освіти</a:t>
            </a:r>
            <a:r>
              <a:rPr lang="en-US" sz="1050" b="0" i="0" u="none" strike="noStrike" cap="none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ПЗПІ-22</a:t>
            </a:r>
            <a:r>
              <a:rPr lang="ru-RU" sz="1050" b="0" i="0" u="none" strike="noStrike" cap="none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-4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523875" y="5681512"/>
            <a:ext cx="5870823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uk-UA" sz="1050" dirty="0" err="1"/>
              <a:t>Шаламов</a:t>
            </a:r>
            <a:r>
              <a:rPr lang="uk-UA" sz="1050" dirty="0"/>
              <a:t> Сергій Артемович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6775698" y="5136058"/>
            <a:ext cx="489242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Науковий керівник: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775698" y="5398889"/>
            <a:ext cx="4892426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доцент</a:t>
            </a:r>
            <a:r>
              <a:rPr lang="en-US" sz="1050" b="0" i="0" u="none" strike="noStrike" cap="none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кафедри</a:t>
            </a:r>
            <a:r>
              <a:rPr lang="en-US" sz="1050" b="0" i="0" u="none" strike="noStrike" cap="none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Програмної</a:t>
            </a:r>
            <a:r>
              <a:rPr lang="en-US" sz="1050" b="0" i="0" u="none" strike="noStrike" cap="none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інженерії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6775698" y="5661719"/>
            <a:ext cx="4892426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uk-UA" sz="1050" dirty="0" err="1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Голян</a:t>
            </a:r>
            <a:r>
              <a:rPr lang="uk-UA" sz="105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Віра Володимирівна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950" y="6238875"/>
            <a:ext cx="257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Актуальність проекту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6750" y="2545199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2546151"/>
            <a:ext cx="5789265" cy="67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Зростання медичних запитів: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Близько 7% щоденних глобальних пошукових запитів у мережі пов'язані з фармакологією та охороною здоров'я.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66750" y="3339494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62000" y="3340447"/>
            <a:ext cx="5789265" cy="67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Труднощі з адаптацією: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Мільйони українців за кордоном не можуть знайти знайомі медичні препарати через розбіжності у торгових назвах за кордоном.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6750" y="413379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62000" y="4134742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Відсутність єдиної бази: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Існує необхідність консолідації даних декількох країн для оперативного пошуку за діючою речовиною.</a:t>
            </a:r>
            <a:endParaRPr/>
          </a:p>
        </p:txBody>
      </p:sp>
      <p:pic>
        <p:nvPicPr>
          <p:cNvPr id="113" name="Google Shape;11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9175" y="2188850"/>
            <a:ext cx="4838700" cy="28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950" y="6238875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2600325"/>
            <a:ext cx="54292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00325"/>
            <a:ext cx="5429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Мета та об'єкт роботи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2790825"/>
            <a:ext cx="52506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Об'єкт дослідження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3181350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Процес проектування, розробки та функціонування клієнт-серверних веб-систем для пошуку, порівняння та ідентифікації еквівалентних лікарських засобів на міжнародному ринку.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77000" y="2790825"/>
            <a:ext cx="52506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Мета розробки вебсервісу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477000" y="3181350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Створення зручного веб-інструменту </a:t>
            </a:r>
            <a:r>
              <a:rPr lang="en-US" sz="1275" b="1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TravelPills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для швидкого підбору закордонних аналогів ліків за діючою речовиною на ринках країн, що прийняли найбільше українських переселенців.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950" y="6238875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2858541"/>
            <a:ext cx="3587650" cy="1531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02025" y="2858541"/>
            <a:ext cx="3587799" cy="1531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0325" y="2858541"/>
            <a:ext cx="3587650" cy="153144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Етапи роботи пошукових систем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52475" y="3134766"/>
            <a:ext cx="328697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1. Сканування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52475" y="3468141"/>
            <a:ext cx="3130450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Регулярний автоматичний обхід веб-ресурсів фармацевтичних реєстрів для відстеження нових та оновлених медикаментів.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530625" y="3134766"/>
            <a:ext cx="328712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2. Індексування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530625" y="3468141"/>
            <a:ext cx="3130599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Структурування текстового вмісту, виявлення діючих речовин (активних компонентів), їх класифікація за групами.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308925" y="3134766"/>
            <a:ext cx="328697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3. Ранжування та видача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08925" y="3468141"/>
            <a:ext cx="3130450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Обробка пошукового запиту, вилучення релевантних записів з бази даних та їх сортування відповідно до введеного тексту.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950" y="6238875"/>
            <a:ext cx="257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Конкурентний аналіз систем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17"/>
          <p:cNvGraphicFramePr/>
          <p:nvPr/>
        </p:nvGraphicFramePr>
        <p:xfrm>
          <a:off x="523875" y="2619375"/>
          <a:ext cx="11134700" cy="2009750"/>
        </p:xfrm>
        <a:graphic>
          <a:graphicData uri="http://schemas.openxmlformats.org/drawingml/2006/table">
            <a:tbl>
              <a:tblPr firstRow="1" bandRow="1">
                <a:noFill/>
                <a:tableStyleId>{1EE1712F-D906-452D-A311-CE738F6FE6D2}</a:tableStyleId>
              </a:tblPr>
              <a:tblGrid>
                <a:gridCol w="237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Критерії аналізу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MedMatch Global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PharmaQuest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MediFinder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TravelPills (Проект)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База даних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Загальносвітова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Міжнародна загальна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Країни Західної Європи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Цільові країни міграції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Пошук за складом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Частковий (назва)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Так (компоненти)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Обмежений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Повний за складом та групою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Вартість доступу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Частково безкоштовно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Потрібна підписка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Платна ліцензія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Повністю безкоштовно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Керування даними (CRUD)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33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Так (для лікарів та адмінів)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" name="Google Shape;156;p17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950" y="6238875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2519362"/>
            <a:ext cx="54292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97918"/>
            <a:ext cx="5429250" cy="230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Проблеми та шляхи вирішення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2709862"/>
            <a:ext cx="52506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Сумісність та відображення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3100387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Проблема: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Різні браузери по-різному рендерять новітні CSS-властивості, що призводить до зсувів верстки.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3748087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Вирішення: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Використання стандартизованого фреймворку Bootstrap та CSS Flexbox для забезпечення адаптивності.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477000" y="2588418"/>
            <a:ext cx="52506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Швидкодія та UX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477000" y="2978943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Проблема: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Затримки при завантаженні складних медичних сторінок та фільтрації великих масивів даних.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477000" y="3626643"/>
            <a:ext cx="5000625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Вирішення: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Асинхронні запити ReactJS, очищення невикористовуваних JS-бібліотек та оптимізація MongoDB запитів.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20475" y="6238875"/>
            <a:ext cx="2476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Функціональні вимоги до вебсервісу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6750" y="2488049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2489001"/>
            <a:ext cx="1090612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Управління даними ліків (CRUD):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Можливість додавати нові препарати, редагувати їх поля або вилучати застарілі дані авторизованими користувачами.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6750" y="3055679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62000" y="3056632"/>
            <a:ext cx="1090612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Два рівні доступу користувачів: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Роль адміністратора (повні права CRUD) та демо-користувача (виключно перегляд бази та пошук аналогів).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6750" y="362331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62000" y="3624262"/>
            <a:ext cx="1090612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Розширені фільтри пошуку: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Можливість шукати ліки за торговою маркою, діючою речовиною, країною знаходження або фармакологічною групою.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" y="419094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4191892"/>
            <a:ext cx="1090612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Аналітичний модуль: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Наявність інтерактивного графіка для відображення поточної статистики медикаментів за категоріями у базі даних.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950" y="6238875"/>
            <a:ext cx="257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Архітектура системи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6750" y="2658457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62000" y="2659409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Клієнт-серверна модель: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Додаток побудовано за принципом логічного поділу інтерфейсу та сховища даних.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66750" y="3226087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3227040"/>
            <a:ext cx="5789265" cy="67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Фронтенд-частина (ReactJS):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Відповідає за відображення компонентів, форм, фільтрів та миттєвий рендеринг графіків на боці клієнта.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66750" y="4020383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62000" y="4021335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Серверна частина (Node.js &amp; MongoDB):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Забезпечує API-зв'язок, автентифікацію через сесії/токени та зберігання документів у базі.</a:t>
            </a:r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9934" y="2769836"/>
            <a:ext cx="4846489" cy="15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950" y="6238875"/>
            <a:ext cx="257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Діаграма послідовності UML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23875" y="2878038"/>
            <a:ext cx="602739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На схемі зображено послідовність життєвого циклу запитів: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66750" y="3281898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62000" y="3282850"/>
            <a:ext cx="5789265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Користувач ініціює запит через браузер (React Client).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66750" y="3622863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62000" y="3623816"/>
            <a:ext cx="5789265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Проміжне ПЗ (Node.js) обробляє логіку і звертається до MongoDB.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66750" y="3963828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62000" y="3964781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Результат повертається у зворотному порядку та асинхронно оновлює UI.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3675" y="1457050"/>
            <a:ext cx="4585625" cy="43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63325" y="6238875"/>
            <a:ext cx="304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Діаграма об'єктів UML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66750" y="2771864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62000" y="2772816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Моделювання Pills та User: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Описує відношення "один-до-багатьох" (один користувач може внести багато препаратів).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66750" y="3339494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62000" y="3340447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Поля класу Pill: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Зберігає унікальні ідентифікатори, торгову назву, аналог, країну, склад та посилання на автора </a:t>
            </a:r>
            <a:r>
              <a:rPr lang="en-US" sz="1275" b="0" i="1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createdBy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66750" y="390712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3908077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Методи класу User: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Реалізація автентифікації та порівняння паролів за допомогою сесій та JWT.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933283" y="3180457"/>
            <a:ext cx="2733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РИСУНОК 3.3 — ДІАГРАМА ОБ'ЄКТІВ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509420" y="3437632"/>
            <a:ext cx="358140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Показує логічну структуру моделей бази даних MongoDB.</a:t>
            </a:r>
            <a:endParaRPr/>
          </a:p>
        </p:txBody>
      </p:sp>
      <p:pic>
        <p:nvPicPr>
          <p:cNvPr id="241" name="Google Shape;2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5479" y="2301928"/>
            <a:ext cx="5395725" cy="31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82375" y="6238875"/>
            <a:ext cx="2857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Трирівнева архітектура системи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66750" y="2771864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762000" y="2772816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Рівень представлення (Presentation layer):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Побудований на базі компонентів ReactJS, забезпечує взаємодію користувача з додатком.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66750" y="3339494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762000" y="3340447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Рівень логіки (Application layer):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Node.js сервер, що виконує перевірку прав, обробку фільтрів та бізнес-правил.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66750" y="390712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762000" y="3908077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Рівень збереження (Data layer):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MongoDB бази даних, що зберігає інформацію у форматі гнучких JSON-подібних документів (BSON).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7709445" y="3180457"/>
            <a:ext cx="31813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РИСУНОК 3.4 — ТРИРІВНЕВА АРХІТЕКТУРА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7633245" y="3437632"/>
            <a:ext cx="33337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Схема відображає взаємодію між трьома рівнями ПЗ.</a:t>
            </a:r>
            <a:endParaRPr/>
          </a:p>
        </p:txBody>
      </p:sp>
      <p:pic>
        <p:nvPicPr>
          <p:cNvPr id="259" name="Google Shape;25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3988" y="2926014"/>
            <a:ext cx="5312275" cy="115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63325" y="623887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5">
            <a:alphaModFix/>
          </a:blip>
          <a:srcRect b="46871"/>
          <a:stretch/>
        </p:blipFill>
        <p:spPr>
          <a:xfrm>
            <a:off x="6791400" y="2713443"/>
            <a:ext cx="4735851" cy="19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Алгоритм пошуку лікарських засобів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66750" y="2942272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762000" y="2943225"/>
            <a:ext cx="5789265" cy="67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Оптимізація Debounce():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Використовується затримка у 1000мс для запобігання надсилання запитів до бази даних при кожному натисканні клавіші.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66750" y="3736568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62000" y="3737520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Параметри фільтрації: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Пошук здійснюється за збігом з торговими назвами, діючими речовинами чи фармакологічними групами.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981915" y="2987287"/>
            <a:ext cx="4354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Код алгоритму пошуку (Додаток А)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7172440" y="2873437"/>
            <a:ext cx="4354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63325" y="6238875"/>
            <a:ext cx="304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Прототипи користувацького інтерфейсу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pic>
        <p:nvPicPr>
          <p:cNvPr id="13" name="Рисунок 12"/>
          <p:cNvPicPr/>
          <p:nvPr/>
        </p:nvPicPr>
        <p:blipFill>
          <a:blip r:embed="rId5"/>
          <a:stretch>
            <a:fillRect/>
          </a:stretch>
        </p:blipFill>
        <p:spPr>
          <a:xfrm>
            <a:off x="523875" y="1785938"/>
            <a:ext cx="6299835" cy="2927350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"/>
          <a:stretch>
            <a:fillRect/>
          </a:stretch>
        </p:blipFill>
        <p:spPr>
          <a:xfrm>
            <a:off x="5417185" y="3896043"/>
            <a:ext cx="6250940" cy="18821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63325" y="6238875"/>
            <a:ext cx="304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Створені сторінки програми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1652587" y="3180457"/>
            <a:ext cx="3171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РИСУНОК 3.8 — ІНТЕРФЕЙС ПОШУКУ ЛІКІВ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1481137" y="3437632"/>
            <a:ext cx="35147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Скріншот сторінки "All Pills" з формами та картками ліків.</a:t>
            </a:r>
            <a:endParaRPr/>
          </a:p>
        </p:txBody>
      </p:sp>
      <p:pic>
        <p:nvPicPr>
          <p:cNvPr id="302" name="Google Shape;30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800" y="1814500"/>
            <a:ext cx="5422209" cy="32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7175" y="1047750"/>
            <a:ext cx="4096575" cy="32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7175" y="4197825"/>
            <a:ext cx="4096576" cy="1700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63325" y="623887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2642294"/>
            <a:ext cx="5429250" cy="182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42294"/>
            <a:ext cx="5429250" cy="18210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Обґрунтування технологічного стеку</a:t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762000" y="2832794"/>
            <a:ext cx="52506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Фронтенд: React.js &amp; Tailwind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477000" y="2832794"/>
            <a:ext cx="52506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Бекенд: Node.js &amp; MongoDB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904875" y="3136642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1000125" y="3137594"/>
            <a:ext cx="47625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Компонентний підхід пришвидшує розробку та дозволяє повторно використовувати елементи.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904875" y="3704272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1000125" y="3705225"/>
            <a:ext cx="47625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TailwindCSS спрощує створення адаптивного дизайну для мобільних пристроїв та планшетів.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6619875" y="3136642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6715125" y="3137594"/>
            <a:ext cx="47625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Асинхронний Node.js забезпечує високу швидкість обробки API-запитів.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6619875" y="3704272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6715125" y="3705225"/>
            <a:ext cx="47625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Документоорієнтована MongoDB ідеально підходить для опису ліків з гнучкою структурою параметрів.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63325" y="6238875"/>
            <a:ext cx="304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8"/>
          <p:cNvSpPr txBox="1"/>
          <p:nvPr/>
        </p:nvSpPr>
        <p:spPr>
          <a:xfrm>
            <a:off x="523875" y="428625"/>
            <a:ext cx="116681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Тестування програмного забезпечення</a:t>
            </a:r>
            <a:endParaRPr/>
          </a:p>
        </p:txBody>
      </p:sp>
      <p:sp>
        <p:nvSpPr>
          <p:cNvPr id="333" name="Google Shape;333;p28"/>
          <p:cNvSpPr/>
          <p:nvPr/>
        </p:nvSpPr>
        <p:spPr>
          <a:xfrm>
            <a:off x="523875" y="866775"/>
            <a:ext cx="1114425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666750" y="2658457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762000" y="2659409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Метод тестування: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Проведено комплексну перевірку вимог методом "Чорної скриньки" ручним способом.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666750" y="3226087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762000" y="3227040"/>
            <a:ext cx="5789265" cy="67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Перевірка запитів: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Протестовано POST, GET, PATCH та DELETE запити. Усі тестові сценарії повернули успішні статус-коди 200 OK або 201 Created.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666750" y="4020383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762000" y="4021335"/>
            <a:ext cx="5789265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Результати:</a:t>
            </a:r>
            <a:r>
              <a:rPr lang="en-US" sz="1275" b="0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Збоїв чи вразливостей під час симуляції великої кількості дій не виявлено.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7514183" y="3093839"/>
            <a:ext cx="3571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СКРІНШОТИ ТЕСТУВАННЯ У ВКЛАДЦІ NETWORK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7141815" y="3351014"/>
            <a:ext cx="4316759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Тут відображаються Рисунки 5.1–5.8 із результатами статусів успішних запитів.</a:t>
            </a:r>
            <a:endParaRPr/>
          </a:p>
        </p:txBody>
      </p:sp>
      <p:pic>
        <p:nvPicPr>
          <p:cNvPr id="343" name="Google Shape;34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3126" y="2128525"/>
            <a:ext cx="3847624" cy="27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6115050"/>
            <a:ext cx="11144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2850" y="6238875"/>
            <a:ext cx="2952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9"/>
          <p:cNvSpPr txBox="1"/>
          <p:nvPr/>
        </p:nvSpPr>
        <p:spPr>
          <a:xfrm>
            <a:off x="4290774" y="2171700"/>
            <a:ext cx="361045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Дякую за увагу!</a:t>
            </a:r>
            <a:endParaRPr/>
          </a:p>
        </p:txBody>
      </p:sp>
      <p:sp>
        <p:nvSpPr>
          <p:cNvPr id="351" name="Google Shape;351;p29"/>
          <p:cNvSpPr/>
          <p:nvPr/>
        </p:nvSpPr>
        <p:spPr>
          <a:xfrm>
            <a:off x="5381625" y="3019425"/>
            <a:ext cx="1428750" cy="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3762375" y="3990975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Кваліфікаційна робота бакалавра виконана в повному обсязі.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523875" y="6238875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ХНУРЕ • Кафедра ПІ •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1031</Words>
  <PresentationFormat>Широкий екран</PresentationFormat>
  <Paragraphs>152</Paragraphs>
  <Slides>17</Slides>
  <Notes>17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3" baseType="lpstr">
      <vt:lpstr>Inter</vt:lpstr>
      <vt:lpstr>Arial</vt:lpstr>
      <vt:lpstr>Consolas</vt:lpstr>
      <vt:lpstr>Inter SemiBold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2026-07-14T17:20:41Z</dcterms:modified>
</cp:coreProperties>
</file>